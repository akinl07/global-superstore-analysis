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PT Sans Narrow"/>
      <p:regular r:id="rId17"/>
      <p:bold r:id="rId18"/>
    </p:embeddedFont>
    <p:embeddedFont>
      <p:font typeface="Lato"/>
      <p:regular r:id="rId19"/>
      <p:bold r:id="rId20"/>
      <p:italic r:id="rId21"/>
      <p:boldItalic r:id="rId22"/>
    </p:embeddedFont>
    <p:embeddedFont>
      <p:font typeface="Open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22" Type="http://schemas.openxmlformats.org/officeDocument/2006/relationships/font" Target="fonts/Lato-boldItalic.fntdata"/><Relationship Id="rId21" Type="http://schemas.openxmlformats.org/officeDocument/2006/relationships/font" Target="fonts/Lato-italic.fntdata"/><Relationship Id="rId24" Type="http://schemas.openxmlformats.org/officeDocument/2006/relationships/font" Target="fonts/OpenSans-bold.fntdata"/><Relationship Id="rId23" Type="http://schemas.openxmlformats.org/officeDocument/2006/relationships/font" Target="fonts/Open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boldItalic.fntdata"/><Relationship Id="rId25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regular.fntdata"/><Relationship Id="rId12" Type="http://schemas.openxmlformats.org/officeDocument/2006/relationships/slide" Target="slides/slide7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PTSansNarrow-regular.fntdata"/><Relationship Id="rId16" Type="http://schemas.openxmlformats.org/officeDocument/2006/relationships/font" Target="fonts/Raleway-boldItalic.fntdata"/><Relationship Id="rId19" Type="http://schemas.openxmlformats.org/officeDocument/2006/relationships/font" Target="fonts/Lato-regular.fntdata"/><Relationship Id="rId18" Type="http://schemas.openxmlformats.org/officeDocument/2006/relationships/font" Target="fonts/PTSansNarrow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d5b15f0a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72363054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72363054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d251bb473_0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d251bb473_0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d251bb473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d251bb473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e965474a9_3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e965474a9_3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cb9a0b074_1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cb9a0b074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8B93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3650" y="1351439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GLOBAL SUPER STORE PROJECT</a:t>
            </a:r>
            <a:endParaRPr sz="4100"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6750" y="2773414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ANALYSING SALES ACCROSS MARKET</a:t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63850" y="4275725"/>
            <a:ext cx="260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By: Akinlade Adeola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63850" y="4681800"/>
            <a:ext cx="563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Jadon’s Mentorship Program project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8B93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401100" y="367825"/>
            <a:ext cx="8571300" cy="9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4000"/>
              <a:t>OBJECTIVE</a:t>
            </a:r>
            <a:endParaRPr sz="2800"/>
          </a:p>
        </p:txBody>
      </p:sp>
      <p:sp>
        <p:nvSpPr>
          <p:cNvPr id="75" name="Google Shape;75;p14"/>
          <p:cNvSpPr txBox="1"/>
          <p:nvPr>
            <p:ph type="title"/>
          </p:nvPr>
        </p:nvSpPr>
        <p:spPr>
          <a:xfrm>
            <a:off x="1284300" y="1126550"/>
            <a:ext cx="7136400" cy="36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ato"/>
              <a:buChar char="●"/>
            </a:pPr>
            <a:r>
              <a:rPr b="0" lang="en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Analyze sales and profit performance </a:t>
            </a:r>
            <a:r>
              <a:rPr b="0" lang="en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across global market and product categories .</a:t>
            </a:r>
            <a:endParaRPr b="0"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ato"/>
              <a:buChar char="●"/>
            </a:pPr>
            <a:r>
              <a:rPr b="0" lang="en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Identifying top performing regions, products and customer segment.</a:t>
            </a:r>
            <a:endParaRPr b="0"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ato"/>
              <a:buChar char="●"/>
            </a:pPr>
            <a:r>
              <a:rPr b="0" lang="en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Understanding key performing drivers and recommended actions for improved profitability.</a:t>
            </a:r>
            <a:endParaRPr b="0"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025" y="162725"/>
            <a:ext cx="8545950" cy="4818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7225" y="647100"/>
            <a:ext cx="4552950" cy="35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/>
        </p:nvSpPr>
        <p:spPr>
          <a:xfrm>
            <a:off x="5329950" y="1307175"/>
            <a:ext cx="2994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Consistent sales growth across months. Noticeable peak in November and December which indicates healthy year end performance.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100" y="881575"/>
            <a:ext cx="5083900" cy="3538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" name="Google Shape;88;p16"/>
          <p:cNvGrpSpPr/>
          <p:nvPr/>
        </p:nvGrpSpPr>
        <p:grpSpPr>
          <a:xfrm>
            <a:off x="6353950" y="2431874"/>
            <a:ext cx="2212050" cy="1930098"/>
            <a:chOff x="6944800" y="1775190"/>
            <a:chExt cx="2212050" cy="2504994"/>
          </a:xfrm>
        </p:grpSpPr>
        <p:pic>
          <p:nvPicPr>
            <p:cNvPr id="89" name="Google Shape;89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44800" y="1775190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" name="Google Shape;90;p16"/>
            <p:cNvSpPr txBox="1"/>
            <p:nvPr/>
          </p:nvSpPr>
          <p:spPr>
            <a:xfrm>
              <a:off x="7086325" y="2025665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80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The year with the highest profit is shown to be 2014 with $600,000, this shows that there was improvement in sales</a:t>
              </a: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 </a:t>
              </a: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over the years.</a:t>
              </a:r>
              <a:endParaRPr b="1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8B93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283099" y="712150"/>
            <a:ext cx="86223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C9640"/>
                </a:solidFill>
              </a:rPr>
              <a:t>KEY PERFORMANCE INDICATORS</a:t>
            </a:r>
            <a:endParaRPr b="1">
              <a:solidFill>
                <a:srgbClr val="FC964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0" sz="2400"/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4775" y="1627762"/>
            <a:ext cx="3387284" cy="68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525" y="2176274"/>
            <a:ext cx="3352564" cy="68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70325" y="1542398"/>
            <a:ext cx="3811279" cy="7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78450" y="2176275"/>
            <a:ext cx="3387098" cy="68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77975" y="1585071"/>
            <a:ext cx="3811275" cy="767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77962" y="2083029"/>
            <a:ext cx="3811275" cy="774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8A9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637325" cy="343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3425" y="496925"/>
            <a:ext cx="4067175" cy="318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8"/>
          <p:cNvSpPr txBox="1"/>
          <p:nvPr/>
        </p:nvSpPr>
        <p:spPr>
          <a:xfrm>
            <a:off x="152388" y="3820150"/>
            <a:ext cx="2452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Central and South regions are leading in sales. Some regions show high sales but lower profit.</a:t>
            </a:r>
            <a:endParaRPr sz="1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" name="Google Shape;109;p18"/>
          <p:cNvSpPr txBox="1"/>
          <p:nvPr/>
        </p:nvSpPr>
        <p:spPr>
          <a:xfrm>
            <a:off x="6418388" y="3921475"/>
            <a:ext cx="245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Cooperate segment dominates revenue.</a:t>
            </a:r>
            <a:endParaRPr sz="1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8A94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/>
        </p:nvSpPr>
        <p:spPr>
          <a:xfrm>
            <a:off x="293850" y="141875"/>
            <a:ext cx="5836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CONCLUSION</a:t>
            </a:r>
            <a:endParaRPr sz="24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202825" y="921725"/>
            <a:ext cx="7510500" cy="37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66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600"/>
              <a:buChar char="●"/>
            </a:pPr>
            <a:r>
              <a:rPr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Sales and profit show steady growth across years</a:t>
            </a:r>
            <a:br>
              <a:rPr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66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Char char="●"/>
            </a:pPr>
            <a:r>
              <a:rPr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Technology drives most profitability</a:t>
            </a:r>
            <a:br>
              <a:rPr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66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Char char="●"/>
            </a:pPr>
            <a:r>
              <a:rPr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Focus on high-margin products and efficient shipping</a:t>
            </a:r>
            <a:br>
              <a:rPr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66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Char char="●"/>
            </a:pPr>
            <a:r>
              <a:rPr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Continue tracking regional and segment trends for better decisions</a:t>
            </a:r>
            <a:br>
              <a:rPr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